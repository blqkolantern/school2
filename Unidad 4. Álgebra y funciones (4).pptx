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3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6858000" cy="9144000"/>
  <p:embeddedFontLst>
    <p:embeddedFont>
      <p:font typeface="Calibri" panose="020F0502020204030204" pitchFamily="34" charset="0"/>
      <p:regular r:id="rId20"/>
      <p:bold r:id="rId21"/>
      <p:italic r:id="rId22"/>
      <p:boldItalic r:id="rId23"/>
    </p:embeddedFont>
    <p:embeddedFont>
      <p:font typeface="Century Gothic" panose="020B0502020202020204" pitchFamily="34" charset="0"/>
      <p:regular r:id="rId24"/>
      <p:bold r:id="rId25"/>
      <p:italic r:id="rId26"/>
      <p:boldItalic r:id="rId27"/>
    </p:embeddedFont>
    <p:embeddedFont>
      <p:font typeface="Comic Sans MS" panose="030F0702030302020204" pitchFamily="66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1483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112b67499cd_0_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g112b67499cd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1130fdfe8d9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g1130fdfe8d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30fdfe8d9_0_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g1130fdfe8d9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1130fdfe8d9_0_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g1130fdfe8d9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130fdfe8d9_0_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g1130fdfe8d9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130fdfe8d9_0_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g1130fdfe8d9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130fdfe8d9_0_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g1130fdfe8d9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11585597657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g1158559765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11585597657_0_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g11585597657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11585597657_0_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g11585597657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1585597657_0_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g11585597657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11585597657_0_7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g11585597657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11585597657_0_8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g11585597657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11585597657_0_9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g11585597657_0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0000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B0BA2C"/>
              </a:buClr>
              <a:buSzPts val="4400"/>
              <a:buFont typeface="Century Gothic"/>
              <a:buNone/>
              <a:defRPr>
                <a:solidFill>
                  <a:srgbClr val="B0BA2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2"/>
          <p:cNvSpPr/>
          <p:nvPr/>
        </p:nvSpPr>
        <p:spPr>
          <a:xfrm flipH="1">
            <a:off x="323528" y="0"/>
            <a:ext cx="1368152" cy="155679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" name="Google Shape;20;p2"/>
          <p:cNvSpPr/>
          <p:nvPr/>
        </p:nvSpPr>
        <p:spPr>
          <a:xfrm>
            <a:off x="0" y="476672"/>
            <a:ext cx="9144000" cy="576064"/>
          </a:xfrm>
          <a:prstGeom prst="rect">
            <a:avLst/>
          </a:prstGeom>
          <a:solidFill>
            <a:srgbClr val="C9D34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>
  <p:cSld name="Título y objeto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70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rgbClr val="595959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595959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595959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457200" y="476672"/>
            <a:ext cx="8229600" cy="576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ólo el título">
  <p:cSld name="Sólo el título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>
            <a:spLocks noGrp="1"/>
          </p:cNvSpPr>
          <p:nvPr>
            <p:ph type="title"/>
          </p:nvPr>
        </p:nvSpPr>
        <p:spPr>
          <a:xfrm>
            <a:off x="457200" y="476672"/>
            <a:ext cx="8229600" cy="576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>
  <p:cSld name="Dos objeto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70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rgbClr val="595959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rgbClr val="595959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rgbClr val="595959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595959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595959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70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rgbClr val="595959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rgbClr val="595959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rgbClr val="595959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595959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595959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title"/>
          </p:nvPr>
        </p:nvSpPr>
        <p:spPr>
          <a:xfrm>
            <a:off x="457200" y="476672"/>
            <a:ext cx="8229600" cy="576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>
  <p:cSld name="Comparación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rgbClr val="595959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rgbClr val="595959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2"/>
          </p:nvPr>
        </p:nvSpPr>
        <p:spPr>
          <a:xfrm>
            <a:off x="457200" y="2174874"/>
            <a:ext cx="4040188" cy="4134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rgbClr val="595959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rgbClr val="595959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rgbClr val="595959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rgbClr val="595959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rgbClr val="595959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rgbClr val="595959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body" idx="4"/>
          </p:nvPr>
        </p:nvSpPr>
        <p:spPr>
          <a:xfrm>
            <a:off x="4645025" y="2174874"/>
            <a:ext cx="4041775" cy="4134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rgbClr val="595959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rgbClr val="595959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rgbClr val="595959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rgbClr val="595959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title"/>
          </p:nvPr>
        </p:nvSpPr>
        <p:spPr>
          <a:xfrm>
            <a:off x="457200" y="476672"/>
            <a:ext cx="8229600" cy="576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0" y="476672"/>
            <a:ext cx="9144000" cy="576064"/>
          </a:xfrm>
          <a:prstGeom prst="rect">
            <a:avLst/>
          </a:prstGeom>
          <a:solidFill>
            <a:srgbClr val="C9D34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" name="Google Shape;11;p1"/>
          <p:cNvSpPr txBox="1">
            <a:spLocks noGrp="1"/>
          </p:cNvSpPr>
          <p:nvPr>
            <p:ph type="title"/>
          </p:nvPr>
        </p:nvSpPr>
        <p:spPr>
          <a:xfrm>
            <a:off x="457200" y="476672"/>
            <a:ext cx="8229600" cy="576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entury Gothic"/>
              <a:buNone/>
              <a:defRPr sz="44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70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rgbClr val="595959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grpSp>
        <p:nvGrpSpPr>
          <p:cNvPr id="13" name="Google Shape;13;p1"/>
          <p:cNvGrpSpPr/>
          <p:nvPr/>
        </p:nvGrpSpPr>
        <p:grpSpPr>
          <a:xfrm>
            <a:off x="6416259" y="5966160"/>
            <a:ext cx="2727740" cy="661008"/>
            <a:chOff x="6416259" y="5966160"/>
            <a:chExt cx="2727740" cy="661008"/>
          </a:xfrm>
        </p:grpSpPr>
        <p:pic>
          <p:nvPicPr>
            <p:cNvPr id="14" name="Google Shape;14;p1" descr="CRC LOGO SINTESIS V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8306124" y="5966160"/>
              <a:ext cx="837875" cy="66100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5;p1" descr="CRC TEXTO LOGO 2015.png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6416259" y="6411686"/>
              <a:ext cx="1781334" cy="18602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7Yc0bcbyieM&amp;list=LLyQyLGKX1YpRFtlYKhF447A&amp;index=596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7"/>
          <p:cNvPicPr preferRelativeResize="0"/>
          <p:nvPr/>
        </p:nvPicPr>
        <p:blipFill rotWithShape="1">
          <a:blip r:embed="rId3">
            <a:alphaModFix/>
          </a:blip>
          <a:srcRect l="8333" r="8334"/>
          <a:stretch/>
        </p:blipFill>
        <p:spPr>
          <a:xfrm>
            <a:off x="0" y="-108940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7"/>
          <p:cNvSpPr txBox="1"/>
          <p:nvPr/>
        </p:nvSpPr>
        <p:spPr>
          <a:xfrm>
            <a:off x="179500" y="5900599"/>
            <a:ext cx="8424900" cy="861000"/>
          </a:xfrm>
          <a:prstGeom prst="rect">
            <a:avLst/>
          </a:prstGeom>
          <a:solidFill>
            <a:srgbClr val="C9D34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2" name="Google Shape;42;p7"/>
          <p:cNvSpPr/>
          <p:nvPr/>
        </p:nvSpPr>
        <p:spPr>
          <a:xfrm>
            <a:off x="709899" y="5900600"/>
            <a:ext cx="74742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latin typeface="Century Gothic"/>
                <a:ea typeface="Century Gothic"/>
                <a:cs typeface="Century Gothic"/>
                <a:sym typeface="Century Gothic"/>
              </a:rPr>
              <a:t>Curso: 1º ESO</a:t>
            </a:r>
            <a:endParaRPr sz="1600" b="1"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latin typeface="Century Gothic"/>
                <a:ea typeface="Century Gothic"/>
                <a:cs typeface="Century Gothic"/>
                <a:sym typeface="Century Gothic"/>
              </a:rPr>
              <a:t>Autor: Adrián García Gómez</a:t>
            </a:r>
            <a:endParaRPr sz="1600" b="1"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latin typeface="Century Gothic"/>
                <a:ea typeface="Century Gothic"/>
                <a:cs typeface="Century Gothic"/>
                <a:sym typeface="Century Gothic"/>
              </a:rPr>
              <a:t>Presentación adaptada al libro de Matemáticas 1º ESO. Ed. Vicens Vives </a:t>
            </a:r>
            <a:endParaRPr sz="1600" b="1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43" name="Google Shape;43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9758" y="-853493"/>
            <a:ext cx="8964489" cy="1599734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7"/>
          <p:cNvSpPr/>
          <p:nvPr/>
        </p:nvSpPr>
        <p:spPr>
          <a:xfrm>
            <a:off x="371475" y="1539925"/>
            <a:ext cx="8271000" cy="18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latin typeface="Century Gothic"/>
                <a:ea typeface="Century Gothic"/>
                <a:cs typeface="Century Gothic"/>
                <a:sym typeface="Century Gothic"/>
              </a:rPr>
              <a:t>Unidad 4: </a:t>
            </a:r>
            <a:r>
              <a:rPr lang="en-US" sz="5500" b="1">
                <a:latin typeface="Century Gothic"/>
                <a:ea typeface="Century Gothic"/>
                <a:cs typeface="Century Gothic"/>
                <a:sym typeface="Century Gothic"/>
              </a:rPr>
              <a:t>El lenguaje de las matemáticas</a:t>
            </a:r>
            <a:endParaRPr sz="5600" b="1" cap="none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>
            <a:spLocks noGrp="1"/>
          </p:cNvSpPr>
          <p:nvPr>
            <p:ph type="title"/>
          </p:nvPr>
        </p:nvSpPr>
        <p:spPr>
          <a:xfrm>
            <a:off x="457200" y="476672"/>
            <a:ext cx="82296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959"/>
              <a:buFont typeface="Century Gothic"/>
              <a:buNone/>
            </a:pPr>
            <a:r>
              <a:rPr lang="en-US" sz="3959"/>
              <a:t>¿Qué es el Álgebra?</a:t>
            </a:r>
            <a:endParaRPr sz="3959"/>
          </a:p>
        </p:txBody>
      </p:sp>
      <p:sp>
        <p:nvSpPr>
          <p:cNvPr id="50" name="Google Shape;50;p8"/>
          <p:cNvSpPr txBox="1"/>
          <p:nvPr/>
        </p:nvSpPr>
        <p:spPr>
          <a:xfrm>
            <a:off x="910825" y="2462200"/>
            <a:ext cx="7313100" cy="26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latin typeface="Comic Sans MS"/>
                <a:ea typeface="Comic Sans MS"/>
                <a:cs typeface="Comic Sans MS"/>
                <a:sym typeface="Comic Sans MS"/>
              </a:rPr>
              <a:t>Utilidades:</a:t>
            </a:r>
            <a:r>
              <a:rPr lang="en-US" sz="2400"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endParaRPr sz="2400"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omic Sans MS"/>
              <a:buChar char="-"/>
            </a:pPr>
            <a:r>
              <a:rPr lang="en-US" sz="1800">
                <a:latin typeface="Comic Sans MS"/>
                <a:ea typeface="Comic Sans MS"/>
                <a:cs typeface="Comic Sans MS"/>
                <a:sym typeface="Comic Sans MS"/>
              </a:rPr>
              <a:t>Representar números desconocidos</a:t>
            </a:r>
            <a:endParaRPr sz="1800"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latin typeface="Comic Sans MS"/>
                <a:ea typeface="Comic Sans MS"/>
                <a:cs typeface="Comic Sans MS"/>
                <a:sym typeface="Comic Sans MS"/>
              </a:rPr>
              <a:t>Ejemplo:</a:t>
            </a:r>
            <a:r>
              <a:rPr lang="en-US" sz="1800">
                <a:latin typeface="Comic Sans MS"/>
                <a:ea typeface="Comic Sans MS"/>
                <a:cs typeface="Comic Sans MS"/>
                <a:sym typeface="Comic Sans MS"/>
              </a:rPr>
              <a:t> Para expresar que la suma de un número desconocido y 15 es igual a 31 escribimos: </a:t>
            </a:r>
            <a:r>
              <a:rPr lang="en-US" sz="1900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x + 15 = 31</a:t>
            </a:r>
            <a:endParaRPr sz="1900">
              <a:solidFill>
                <a:srgbClr val="0000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omic Sans MS"/>
              <a:buChar char="-"/>
            </a:pPr>
            <a:r>
              <a:rPr lang="en-US" sz="1800">
                <a:latin typeface="Comic Sans MS"/>
                <a:ea typeface="Comic Sans MS"/>
                <a:cs typeface="Comic Sans MS"/>
                <a:sym typeface="Comic Sans MS"/>
              </a:rPr>
              <a:t>Expresar relaciones o propiedades</a:t>
            </a:r>
            <a:endParaRPr sz="1800"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Ejemplo:</a:t>
            </a:r>
            <a:r>
              <a:rPr lang="en-US" sz="1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En la propiedad conmutativa escribimos: </a:t>
            </a:r>
            <a:r>
              <a:rPr lang="en-US" sz="1900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a+b=b+a</a:t>
            </a:r>
            <a:endParaRPr sz="1900">
              <a:solidFill>
                <a:srgbClr val="0000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omic Sans MS"/>
              <a:buChar char="-"/>
            </a:pPr>
            <a:r>
              <a:rPr lang="en-US" sz="1800">
                <a:latin typeface="Comic Sans MS"/>
                <a:ea typeface="Comic Sans MS"/>
                <a:cs typeface="Comic Sans MS"/>
                <a:sym typeface="Comic Sans MS"/>
              </a:rPr>
              <a:t>Escribir fórmulas</a:t>
            </a:r>
            <a:endParaRPr sz="1800"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Ejemplo:</a:t>
            </a:r>
            <a:r>
              <a:rPr lang="en-US" sz="1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Para el área de un rectángulo escribimos </a:t>
            </a:r>
            <a:r>
              <a:rPr lang="en-US" sz="1900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A=b·h</a:t>
            </a:r>
            <a:r>
              <a:rPr lang="en-US" sz="1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endParaRPr sz="1800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51" name="Google Shape;51;p8"/>
          <p:cNvSpPr txBox="1"/>
          <p:nvPr/>
        </p:nvSpPr>
        <p:spPr>
          <a:xfrm>
            <a:off x="915400" y="5150725"/>
            <a:ext cx="73131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Vídeo introductorio Troncho y Poncho:</a:t>
            </a:r>
            <a:endParaRPr sz="1800" b="1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u="sng">
                <a:solidFill>
                  <a:srgbClr val="1155CC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https://www.youtube.com/watch?v=7Yc0bcbyieM&amp;list=LLyQyLGKX1YpRFtlYKhF447A&amp;index=596</a:t>
            </a:r>
            <a:endParaRPr sz="1900" b="1"/>
          </a:p>
        </p:txBody>
      </p:sp>
      <p:pic>
        <p:nvPicPr>
          <p:cNvPr id="52" name="Google Shape;52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5389" y="1392438"/>
            <a:ext cx="7313212" cy="88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>
            <a:spLocks noGrp="1"/>
          </p:cNvSpPr>
          <p:nvPr>
            <p:ph type="title"/>
          </p:nvPr>
        </p:nvSpPr>
        <p:spPr>
          <a:xfrm>
            <a:off x="457200" y="476672"/>
            <a:ext cx="82296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959"/>
              <a:buFont typeface="Century Gothic"/>
              <a:buNone/>
            </a:pPr>
            <a:r>
              <a:rPr lang="en-US" sz="3959"/>
              <a:t>Expresiones algebraicas</a:t>
            </a:r>
            <a:endParaRPr sz="3959"/>
          </a:p>
        </p:txBody>
      </p:sp>
      <p:sp>
        <p:nvSpPr>
          <p:cNvPr id="58" name="Google Shape;58;p9"/>
          <p:cNvSpPr txBox="1"/>
          <p:nvPr/>
        </p:nvSpPr>
        <p:spPr>
          <a:xfrm>
            <a:off x="910825" y="2614600"/>
            <a:ext cx="7313100" cy="35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latin typeface="Comic Sans MS"/>
                <a:ea typeface="Comic Sans MS"/>
                <a:cs typeface="Comic Sans MS"/>
                <a:sym typeface="Comic Sans MS"/>
              </a:rPr>
              <a:t>Ejemplos de expresiones algebraicas:</a:t>
            </a:r>
            <a:r>
              <a:rPr lang="en-US" sz="2400"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endParaRPr sz="2400"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omic Sans MS"/>
              <a:buChar char="-"/>
            </a:pPr>
            <a:r>
              <a:rPr lang="en-US" sz="1800">
                <a:latin typeface="Comic Sans MS"/>
                <a:ea typeface="Comic Sans MS"/>
                <a:cs typeface="Comic Sans MS"/>
                <a:sym typeface="Comic Sans MS"/>
              </a:rPr>
              <a:t>2xy</a:t>
            </a:r>
            <a:endParaRPr sz="1800"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omic Sans MS"/>
              <a:buChar char="-"/>
            </a:pPr>
            <a:r>
              <a:rPr lang="en-US" sz="1800">
                <a:latin typeface="Comic Sans MS"/>
                <a:ea typeface="Comic Sans MS"/>
                <a:cs typeface="Comic Sans MS"/>
                <a:sym typeface="Comic Sans MS"/>
              </a:rPr>
              <a:t>x</a:t>
            </a:r>
            <a:r>
              <a:rPr lang="en-US" sz="1800" baseline="30000">
                <a:latin typeface="Comic Sans MS"/>
                <a:ea typeface="Comic Sans MS"/>
                <a:cs typeface="Comic Sans MS"/>
                <a:sym typeface="Comic Sans MS"/>
              </a:rPr>
              <a:t>2</a:t>
            </a:r>
            <a:r>
              <a:rPr lang="en-US" sz="1800">
                <a:latin typeface="Comic Sans MS"/>
                <a:ea typeface="Comic Sans MS"/>
                <a:cs typeface="Comic Sans MS"/>
                <a:sym typeface="Comic Sans MS"/>
              </a:rPr>
              <a:t>+y</a:t>
            </a:r>
            <a:r>
              <a:rPr lang="en-US" sz="1800" baseline="30000">
                <a:latin typeface="Comic Sans MS"/>
                <a:ea typeface="Comic Sans MS"/>
                <a:cs typeface="Comic Sans MS"/>
                <a:sym typeface="Comic Sans MS"/>
              </a:rPr>
              <a:t>2</a:t>
            </a:r>
            <a:endParaRPr sz="1800"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omic Sans MS"/>
              <a:buChar char="-"/>
            </a:pPr>
            <a:r>
              <a:rPr lang="en-US" sz="1800">
                <a:latin typeface="Comic Sans MS"/>
                <a:ea typeface="Comic Sans MS"/>
                <a:cs typeface="Comic Sans MS"/>
                <a:sym typeface="Comic Sans MS"/>
              </a:rPr>
              <a:t>3x+5y+7z</a:t>
            </a:r>
            <a:endParaRPr sz="1800"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omic Sans MS"/>
              <a:buChar char="-"/>
            </a:pPr>
            <a:r>
              <a:rPr lang="en-US" sz="1800">
                <a:latin typeface="Comic Sans MS"/>
                <a:ea typeface="Comic Sans MS"/>
                <a:cs typeface="Comic Sans MS"/>
                <a:sym typeface="Comic Sans MS"/>
              </a:rPr>
              <a:t>2x/5</a:t>
            </a:r>
            <a:endParaRPr sz="1800"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Ejercicio: </a:t>
            </a:r>
            <a:r>
              <a:rPr lang="en-US" sz="1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Traducir la siguiente frase a una expresión algebraica</a:t>
            </a:r>
            <a:endParaRPr sz="18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457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i="1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“El doble del producto de dos números desconocidos”</a:t>
            </a:r>
            <a:endParaRPr sz="1800" i="1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59" name="Google Shape;59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6688" y="1468421"/>
            <a:ext cx="7401375" cy="87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0"/>
          <p:cNvSpPr txBox="1">
            <a:spLocks noGrp="1"/>
          </p:cNvSpPr>
          <p:nvPr>
            <p:ph type="title"/>
          </p:nvPr>
        </p:nvSpPr>
        <p:spPr>
          <a:xfrm>
            <a:off x="457200" y="476672"/>
            <a:ext cx="82296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959"/>
              <a:buFont typeface="Century Gothic"/>
              <a:buNone/>
            </a:pPr>
            <a:r>
              <a:rPr lang="en-US" sz="3959"/>
              <a:t>Valor numérico</a:t>
            </a:r>
            <a:endParaRPr sz="3959"/>
          </a:p>
        </p:txBody>
      </p:sp>
      <p:sp>
        <p:nvSpPr>
          <p:cNvPr id="65" name="Google Shape;65;p10"/>
          <p:cNvSpPr txBox="1"/>
          <p:nvPr/>
        </p:nvSpPr>
        <p:spPr>
          <a:xfrm>
            <a:off x="910825" y="3148000"/>
            <a:ext cx="7313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latin typeface="Comic Sans MS"/>
                <a:ea typeface="Comic Sans MS"/>
                <a:cs typeface="Comic Sans MS"/>
                <a:sym typeface="Comic Sans MS"/>
              </a:rPr>
              <a:t>Ejemplo:</a:t>
            </a:r>
            <a:r>
              <a:rPr lang="en-US" sz="2400"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lang="en-US" sz="1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Halla el valor numérico de la expresión 5a+3 cuando a = 4</a:t>
            </a:r>
            <a:endParaRPr sz="1800" i="1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66" name="Google Shape;66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0825" y="1388426"/>
            <a:ext cx="7313100" cy="146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3675" y="3929950"/>
            <a:ext cx="7313100" cy="16854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457200" y="476672"/>
            <a:ext cx="82296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959"/>
              <a:buFont typeface="Century Gothic"/>
              <a:buNone/>
            </a:pPr>
            <a:r>
              <a:rPr lang="en-US" sz="3959"/>
              <a:t>MONOMIOS</a:t>
            </a:r>
            <a:endParaRPr sz="3959"/>
          </a:p>
        </p:txBody>
      </p:sp>
      <p:sp>
        <p:nvSpPr>
          <p:cNvPr id="73" name="Google Shape;73;p11"/>
          <p:cNvSpPr txBox="1"/>
          <p:nvPr/>
        </p:nvSpPr>
        <p:spPr>
          <a:xfrm>
            <a:off x="834625" y="3605200"/>
            <a:ext cx="7313100" cy="98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 u="sng">
                <a:latin typeface="Comic Sans MS"/>
                <a:ea typeface="Comic Sans MS"/>
                <a:cs typeface="Comic Sans MS"/>
                <a:sym typeface="Comic Sans MS"/>
              </a:rPr>
              <a:t>Partes del monomio:</a:t>
            </a:r>
            <a:r>
              <a:rPr lang="en-US" sz="1800">
                <a:latin typeface="Comic Sans MS"/>
                <a:ea typeface="Comic Sans MS"/>
                <a:cs typeface="Comic Sans MS"/>
                <a:sym typeface="Comic Sans MS"/>
              </a:rPr>
              <a:t> Los monomios tienen una parte numérica llamada </a:t>
            </a:r>
            <a:r>
              <a:rPr lang="en-US" sz="1800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coeficiente</a:t>
            </a:r>
            <a:r>
              <a:rPr lang="en-US" sz="1800">
                <a:latin typeface="Comic Sans MS"/>
                <a:ea typeface="Comic Sans MS"/>
                <a:cs typeface="Comic Sans MS"/>
                <a:sym typeface="Comic Sans MS"/>
              </a:rPr>
              <a:t>, y una parte con letras y exponentes llamada </a:t>
            </a:r>
            <a:r>
              <a:rPr lang="en-US" sz="180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parte literal</a:t>
            </a:r>
            <a:r>
              <a:rPr lang="en-US" sz="1800">
                <a:latin typeface="Comic Sans MS"/>
                <a:ea typeface="Comic Sans MS"/>
                <a:cs typeface="Comic Sans MS"/>
                <a:sym typeface="Comic Sans MS"/>
              </a:rPr>
              <a:t>:</a:t>
            </a:r>
            <a:endParaRPr sz="1800"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74" name="Google Shape;74;p11"/>
          <p:cNvSpPr txBox="1"/>
          <p:nvPr/>
        </p:nvSpPr>
        <p:spPr>
          <a:xfrm>
            <a:off x="838200" y="5105400"/>
            <a:ext cx="7420200" cy="11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u="sng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Grado del monomio:</a:t>
            </a:r>
            <a:r>
              <a:rPr lang="en-US" sz="1800" b="1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lang="en-US" sz="1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es la suma de los exponentes de las letras.</a:t>
            </a:r>
            <a:r>
              <a:rPr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endParaRPr sz="24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En el ejemplo </a:t>
            </a:r>
            <a:r>
              <a:rPr lang="en-US" sz="2000" b="1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6x</a:t>
            </a:r>
            <a:r>
              <a:rPr lang="en-US" sz="2000" b="1" baseline="30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2</a:t>
            </a:r>
            <a:r>
              <a:rPr lang="en-US" sz="2000" b="1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yz</a:t>
            </a:r>
            <a:r>
              <a:rPr lang="en-US" sz="2000" b="1" baseline="30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2</a:t>
            </a:r>
            <a:r>
              <a:rPr lang="en-US" sz="1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el grado es 5, ya que 2+1+2=5</a:t>
            </a:r>
            <a:endParaRPr sz="18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75" name="Google Shape;75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3675" y="1303001"/>
            <a:ext cx="7420249" cy="989367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/>
        </p:nvSpPr>
        <p:spPr>
          <a:xfrm>
            <a:off x="838200" y="2209800"/>
            <a:ext cx="74202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Ejemplos:</a:t>
            </a:r>
            <a:r>
              <a:rPr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endParaRPr sz="24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Char char="-"/>
            </a:pPr>
            <a:r>
              <a:rPr lang="en-US" sz="1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2xy</a:t>
            </a:r>
            <a:endParaRPr sz="18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Char char="-"/>
            </a:pPr>
            <a:r>
              <a:rPr lang="en-US" sz="1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5x</a:t>
            </a:r>
            <a:endParaRPr sz="18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Char char="-"/>
            </a:pPr>
            <a:r>
              <a:rPr lang="en-US" sz="1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3x</a:t>
            </a:r>
            <a:r>
              <a:rPr lang="en-US" sz="1800" baseline="30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2</a:t>
            </a:r>
            <a:r>
              <a:rPr lang="en-US" sz="1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yz</a:t>
            </a:r>
            <a:r>
              <a:rPr lang="en-US" sz="1800" baseline="30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3</a:t>
            </a:r>
            <a:endParaRPr sz="18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77" name="Google Shape;77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29175" y="4281200"/>
            <a:ext cx="3685650" cy="83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2"/>
          <p:cNvSpPr txBox="1">
            <a:spLocks noGrp="1"/>
          </p:cNvSpPr>
          <p:nvPr>
            <p:ph type="title"/>
          </p:nvPr>
        </p:nvSpPr>
        <p:spPr>
          <a:xfrm>
            <a:off x="457200" y="476672"/>
            <a:ext cx="82296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959"/>
              <a:buFont typeface="Century Gothic"/>
              <a:buNone/>
            </a:pPr>
            <a:r>
              <a:rPr lang="en-US" sz="3959"/>
              <a:t>MONOMIOS SEMEJANTES</a:t>
            </a:r>
            <a:endParaRPr sz="3959"/>
          </a:p>
        </p:txBody>
      </p:sp>
      <p:sp>
        <p:nvSpPr>
          <p:cNvPr id="83" name="Google Shape;83;p12"/>
          <p:cNvSpPr txBox="1"/>
          <p:nvPr/>
        </p:nvSpPr>
        <p:spPr>
          <a:xfrm>
            <a:off x="762000" y="2743200"/>
            <a:ext cx="7420200" cy="28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Ejemplos:</a:t>
            </a:r>
            <a:r>
              <a:rPr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endParaRPr sz="24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Char char="-"/>
            </a:pPr>
            <a:r>
              <a:rPr lang="en-US" sz="1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Los monomios 3ab</a:t>
            </a:r>
            <a:r>
              <a:rPr lang="en-US" sz="1800" baseline="30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2</a:t>
            </a:r>
            <a:r>
              <a:rPr lang="en-US" sz="1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y –5ab</a:t>
            </a:r>
            <a:r>
              <a:rPr lang="en-US" sz="1800" baseline="30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2</a:t>
            </a:r>
            <a:r>
              <a:rPr lang="en-US" sz="1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son monomios semejantes.</a:t>
            </a:r>
            <a:endParaRPr sz="18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Char char="-"/>
            </a:pPr>
            <a:r>
              <a:rPr lang="en-US" sz="1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Los monomios 3pq y 4qp son semejantes. No importa el orden ya que se cumple la propiedad conmutativa.</a:t>
            </a:r>
            <a:endParaRPr sz="18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Char char="-"/>
            </a:pPr>
            <a:r>
              <a:rPr lang="en-US" sz="1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Los monomios 7a</a:t>
            </a:r>
            <a:r>
              <a:rPr lang="en-US" sz="1800" baseline="30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3</a:t>
            </a:r>
            <a:r>
              <a:rPr lang="en-US" sz="1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b y 6a</a:t>
            </a:r>
            <a:r>
              <a:rPr lang="en-US" sz="1800" baseline="30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2</a:t>
            </a:r>
            <a:r>
              <a:rPr lang="en-US" sz="1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b no son monomios semejantes ya que tienen las mismas letras pero con exponentes distintos.</a:t>
            </a:r>
            <a:endParaRPr sz="18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84" name="Google Shape;84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4625" y="1459771"/>
            <a:ext cx="7313100" cy="9158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 txBox="1">
            <a:spLocks noGrp="1"/>
          </p:cNvSpPr>
          <p:nvPr>
            <p:ph type="title"/>
          </p:nvPr>
        </p:nvSpPr>
        <p:spPr>
          <a:xfrm>
            <a:off x="457200" y="476672"/>
            <a:ext cx="82296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959"/>
              <a:buFont typeface="Century Gothic"/>
              <a:buNone/>
            </a:pPr>
            <a:r>
              <a:rPr lang="en-US" sz="3959"/>
              <a:t>MONOMIOS: SUMA Y RESTA</a:t>
            </a:r>
            <a:endParaRPr sz="3959"/>
          </a:p>
        </p:txBody>
      </p:sp>
      <p:sp>
        <p:nvSpPr>
          <p:cNvPr id="90" name="Google Shape;90;p13"/>
          <p:cNvSpPr txBox="1"/>
          <p:nvPr/>
        </p:nvSpPr>
        <p:spPr>
          <a:xfrm>
            <a:off x="762000" y="2514600"/>
            <a:ext cx="74202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Ejemplo de suma:</a:t>
            </a:r>
            <a:r>
              <a:rPr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endParaRPr sz="24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45720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3ab</a:t>
            </a:r>
            <a:r>
              <a:rPr lang="en-US" sz="1800" baseline="30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2</a:t>
            </a:r>
            <a:r>
              <a:rPr lang="en-US" sz="1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+ 5ab</a:t>
            </a:r>
            <a:r>
              <a:rPr lang="en-US" sz="1800" baseline="30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2</a:t>
            </a:r>
            <a:r>
              <a:rPr lang="en-US" sz="1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= 8ab</a:t>
            </a:r>
            <a:r>
              <a:rPr lang="en-US" sz="1800" baseline="30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2</a:t>
            </a:r>
            <a:endParaRPr sz="18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91" name="Google Shape;91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0" y="1504826"/>
            <a:ext cx="7420200" cy="821424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/>
        </p:nvSpPr>
        <p:spPr>
          <a:xfrm>
            <a:off x="762000" y="3886200"/>
            <a:ext cx="3000000" cy="11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Ejemplo de resta:</a:t>
            </a:r>
            <a:r>
              <a:rPr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endParaRPr sz="24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7x</a:t>
            </a:r>
            <a:r>
              <a:rPr lang="en-US" sz="1800" baseline="30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3</a:t>
            </a:r>
            <a:r>
              <a:rPr lang="en-US" sz="1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y - 6x</a:t>
            </a:r>
            <a:r>
              <a:rPr lang="en-US" sz="1800" baseline="30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3</a:t>
            </a:r>
            <a:r>
              <a:rPr lang="en-US" sz="1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y = x</a:t>
            </a:r>
            <a:r>
              <a:rPr lang="en-US" sz="1800" baseline="30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3</a:t>
            </a:r>
            <a:r>
              <a:rPr lang="en-US" sz="1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y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>
            <a:spLocks noGrp="1"/>
          </p:cNvSpPr>
          <p:nvPr>
            <p:ph type="title"/>
          </p:nvPr>
        </p:nvSpPr>
        <p:spPr>
          <a:xfrm>
            <a:off x="457200" y="476672"/>
            <a:ext cx="82296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959"/>
              <a:buFont typeface="Century Gothic"/>
              <a:buNone/>
            </a:pPr>
            <a:r>
              <a:rPr lang="en-US" sz="3959"/>
              <a:t>MONOMIOS: </a:t>
            </a:r>
            <a:r>
              <a:rPr lang="en-US" sz="3359"/>
              <a:t>PRODUCTO Y DIVISIÓN</a:t>
            </a:r>
            <a:endParaRPr sz="3359"/>
          </a:p>
        </p:txBody>
      </p:sp>
      <p:sp>
        <p:nvSpPr>
          <p:cNvPr id="98" name="Google Shape;98;p14"/>
          <p:cNvSpPr txBox="1"/>
          <p:nvPr/>
        </p:nvSpPr>
        <p:spPr>
          <a:xfrm>
            <a:off x="762000" y="2209800"/>
            <a:ext cx="74202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Ejemplo de multiplicación:</a:t>
            </a:r>
            <a:r>
              <a:rPr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endParaRPr sz="24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45720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3ab · 5ab</a:t>
            </a:r>
            <a:r>
              <a:rPr lang="en-US" sz="1800" baseline="30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2</a:t>
            </a:r>
            <a:r>
              <a:rPr lang="en-US" sz="1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= 15 a</a:t>
            </a:r>
            <a:r>
              <a:rPr lang="en-US" sz="1800" baseline="30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1+1 </a:t>
            </a:r>
            <a:r>
              <a:rPr lang="en-US" sz="1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b</a:t>
            </a:r>
            <a:r>
              <a:rPr lang="en-US" sz="1800" baseline="30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1+2</a:t>
            </a:r>
            <a:r>
              <a:rPr lang="en-US" sz="1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= 15 a</a:t>
            </a:r>
            <a:r>
              <a:rPr lang="en-US" sz="1800" baseline="30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2  </a:t>
            </a:r>
            <a:r>
              <a:rPr lang="en-US" sz="1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b</a:t>
            </a:r>
            <a:r>
              <a:rPr lang="en-US" sz="1800" baseline="30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3</a:t>
            </a:r>
            <a:endParaRPr sz="18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762000" y="4572000"/>
            <a:ext cx="73416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Ejemplo de división:</a:t>
            </a:r>
            <a:r>
              <a:rPr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endParaRPr sz="24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20x</a:t>
            </a:r>
            <a:r>
              <a:rPr lang="en-US" sz="1800" baseline="30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3</a:t>
            </a:r>
            <a:r>
              <a:rPr lang="en-US" sz="1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yz</a:t>
            </a:r>
            <a:r>
              <a:rPr lang="en-US" sz="1800" baseline="30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5</a:t>
            </a:r>
            <a:r>
              <a:rPr lang="en-US" sz="1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: 5x</a:t>
            </a:r>
            <a:r>
              <a:rPr lang="en-US" sz="1800" baseline="30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2</a:t>
            </a:r>
            <a:r>
              <a:rPr lang="en-US" sz="1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yz</a:t>
            </a:r>
            <a:r>
              <a:rPr lang="en-US" sz="1800" baseline="30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3</a:t>
            </a:r>
            <a:r>
              <a:rPr lang="en-US" sz="1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= 4x</a:t>
            </a:r>
            <a:r>
              <a:rPr lang="en-US" sz="1800" baseline="30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3-2 </a:t>
            </a:r>
            <a:r>
              <a:rPr lang="en-US" sz="1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y</a:t>
            </a:r>
            <a:r>
              <a:rPr lang="en-US" sz="1800" baseline="30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1-1 </a:t>
            </a:r>
            <a:r>
              <a:rPr lang="en-US" sz="1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z</a:t>
            </a:r>
            <a:r>
              <a:rPr lang="en-US" sz="1800" baseline="30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5-3</a:t>
            </a:r>
            <a:r>
              <a:rPr lang="en-US" sz="1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= 4 x y</a:t>
            </a:r>
            <a:r>
              <a:rPr lang="en-US" sz="1800" baseline="30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0 </a:t>
            </a:r>
            <a:r>
              <a:rPr lang="en-US" sz="1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z</a:t>
            </a:r>
            <a:r>
              <a:rPr lang="en-US" sz="1800" baseline="30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2</a:t>
            </a:r>
            <a:r>
              <a:rPr lang="en-US" sz="1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= 4xz</a:t>
            </a:r>
            <a:r>
              <a:rPr lang="en-US" sz="1800" baseline="30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2</a:t>
            </a:r>
            <a:endParaRPr>
              <a:solidFill>
                <a:schemeClr val="dk1"/>
              </a:solidFill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 baseline="300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00" name="Google Shape;10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0" y="1259850"/>
            <a:ext cx="7627996" cy="844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2000" y="3515925"/>
            <a:ext cx="7628000" cy="9305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 txBox="1">
            <a:spLocks noGrp="1"/>
          </p:cNvSpPr>
          <p:nvPr>
            <p:ph type="title"/>
          </p:nvPr>
        </p:nvSpPr>
        <p:spPr>
          <a:xfrm>
            <a:off x="457200" y="476672"/>
            <a:ext cx="82296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959"/>
              <a:buFont typeface="Century Gothic"/>
              <a:buNone/>
            </a:pPr>
            <a:r>
              <a:rPr lang="en-US" sz="3659"/>
              <a:t>MONOMIOS:</a:t>
            </a:r>
            <a:r>
              <a:rPr lang="en-US" sz="3959"/>
              <a:t> </a:t>
            </a:r>
            <a:r>
              <a:rPr lang="en-US" sz="2460"/>
              <a:t>Distributiva y sacar factor común</a:t>
            </a:r>
            <a:endParaRPr sz="2460"/>
          </a:p>
        </p:txBody>
      </p:sp>
      <p:sp>
        <p:nvSpPr>
          <p:cNvPr id="107" name="Google Shape;107;p15"/>
          <p:cNvSpPr txBox="1"/>
          <p:nvPr/>
        </p:nvSpPr>
        <p:spPr>
          <a:xfrm>
            <a:off x="762000" y="1447800"/>
            <a:ext cx="74202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u="sng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Propiedad distributiva:</a:t>
            </a:r>
            <a:r>
              <a:rPr lang="en-US" sz="1800" b="1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lang="en-US" sz="1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Si tenemos el producto de un monomio por una suma de monomios, primero se multiplica el monomio por cada uno de los monomios sumandos y después se suman los monomios obtenidos.</a:t>
            </a:r>
            <a:endParaRPr sz="18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08" name="Google Shape;10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0425" y="2893200"/>
            <a:ext cx="5103150" cy="93762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762000" y="4114800"/>
            <a:ext cx="7420200" cy="15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u="sng" dirty="0" err="1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Sacar</a:t>
            </a:r>
            <a:r>
              <a:rPr lang="en-US" sz="1800" b="1" u="sng" dirty="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factor </a:t>
            </a:r>
            <a:r>
              <a:rPr lang="en-US" sz="1800" b="1" u="sng" dirty="0" err="1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común</a:t>
            </a:r>
            <a:r>
              <a:rPr lang="en-US" sz="1800" b="1" u="sng" dirty="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:</a:t>
            </a:r>
            <a:r>
              <a:rPr lang="en-US" sz="1800" b="1" dirty="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lang="en-US" sz="1800" dirty="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Es </a:t>
            </a:r>
            <a:r>
              <a:rPr lang="en-US" sz="1800" dirty="0" err="1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aplicar</a:t>
            </a:r>
            <a:r>
              <a:rPr lang="en-US" sz="1800" dirty="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la </a:t>
            </a:r>
            <a:r>
              <a:rPr lang="en-US" sz="1800" dirty="0" err="1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propiedad</a:t>
            </a:r>
            <a:r>
              <a:rPr lang="en-US" sz="1800" dirty="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distributiva</a:t>
            </a:r>
            <a:r>
              <a:rPr lang="en-US" sz="1800" dirty="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en</a:t>
            </a:r>
            <a:r>
              <a:rPr lang="en-US" sz="1800" dirty="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sentido</a:t>
            </a:r>
            <a:r>
              <a:rPr lang="en-US" sz="1800" dirty="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contrario</a:t>
            </a:r>
            <a:r>
              <a:rPr lang="en-US" sz="1800" dirty="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.</a:t>
            </a:r>
            <a:endParaRPr sz="1800" dirty="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		</a:t>
            </a:r>
            <a:r>
              <a:rPr lang="en-US" sz="1900" b="1" dirty="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3xz + 6xy = 3x (z + 2y) </a:t>
            </a:r>
            <a:endParaRPr sz="1900" b="1" dirty="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6"/>
          <p:cNvSpPr txBox="1">
            <a:spLocks noGrp="1"/>
          </p:cNvSpPr>
          <p:nvPr>
            <p:ph type="title"/>
          </p:nvPr>
        </p:nvSpPr>
        <p:spPr>
          <a:xfrm>
            <a:off x="457200" y="476672"/>
            <a:ext cx="82296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959"/>
              <a:buFont typeface="Century Gothic"/>
              <a:buNone/>
            </a:pPr>
            <a:r>
              <a:rPr lang="en-US" sz="3859"/>
              <a:t>ECUACIONES</a:t>
            </a:r>
            <a:endParaRPr sz="2660"/>
          </a:p>
        </p:txBody>
      </p:sp>
      <p:sp>
        <p:nvSpPr>
          <p:cNvPr id="115" name="Google Shape;115;p16"/>
          <p:cNvSpPr txBox="1"/>
          <p:nvPr/>
        </p:nvSpPr>
        <p:spPr>
          <a:xfrm>
            <a:off x="685800" y="2590800"/>
            <a:ext cx="7420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u="sng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PARTES DE UNA ECUACIÓN:</a:t>
            </a:r>
            <a:r>
              <a:rPr lang="en-US" sz="16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	</a:t>
            </a:r>
            <a:r>
              <a:rPr lang="en-US" sz="1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				</a:t>
            </a:r>
            <a:endParaRPr sz="1900" b="1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16" name="Google Shape;11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4825" y="1319376"/>
            <a:ext cx="7514549" cy="63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14725" y="2079600"/>
            <a:ext cx="4372275" cy="163515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/>
          <p:cNvSpPr/>
          <p:nvPr/>
        </p:nvSpPr>
        <p:spPr>
          <a:xfrm>
            <a:off x="4824425" y="2590800"/>
            <a:ext cx="200100" cy="352500"/>
          </a:xfrm>
          <a:prstGeom prst="ellipse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16"/>
          <p:cNvSpPr/>
          <p:nvPr/>
        </p:nvSpPr>
        <p:spPr>
          <a:xfrm>
            <a:off x="7081850" y="2590800"/>
            <a:ext cx="200100" cy="352500"/>
          </a:xfrm>
          <a:prstGeom prst="ellipse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20" name="Google Shape;120;p16"/>
          <p:cNvCxnSpPr>
            <a:stCxn id="118" idx="4"/>
            <a:endCxn id="121" idx="0"/>
          </p:cNvCxnSpPr>
          <p:nvPr/>
        </p:nvCxnSpPr>
        <p:spPr>
          <a:xfrm flipH="1">
            <a:off x="4476875" y="2943300"/>
            <a:ext cx="447600" cy="485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2" name="Google Shape;122;p16"/>
          <p:cNvCxnSpPr>
            <a:stCxn id="119" idx="4"/>
          </p:cNvCxnSpPr>
          <p:nvPr/>
        </p:nvCxnSpPr>
        <p:spPr>
          <a:xfrm flipH="1">
            <a:off x="4686200" y="2943300"/>
            <a:ext cx="2495700" cy="500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1" name="Google Shape;121;p16"/>
          <p:cNvSpPr txBox="1"/>
          <p:nvPr/>
        </p:nvSpPr>
        <p:spPr>
          <a:xfrm>
            <a:off x="3810000" y="3429000"/>
            <a:ext cx="1333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Incógnitas</a:t>
            </a:r>
            <a:endParaRPr sz="1900" b="1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23" name="Google Shape;123;p16"/>
          <p:cNvSpPr txBox="1"/>
          <p:nvPr/>
        </p:nvSpPr>
        <p:spPr>
          <a:xfrm>
            <a:off x="762000" y="4038600"/>
            <a:ext cx="74202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u="sng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GRADO DE UNA ECUACIÓN:</a:t>
            </a:r>
            <a:r>
              <a:rPr lang="en-US" sz="1800" b="1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lang="en-US" sz="1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El grado de una ecuación es el mayor de los grados de los términos que tiene la ecuación.</a:t>
            </a:r>
            <a:endParaRPr sz="2100" b="1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24" name="Google Shape;124;p16"/>
          <p:cNvSpPr txBox="1"/>
          <p:nvPr/>
        </p:nvSpPr>
        <p:spPr>
          <a:xfrm>
            <a:off x="762000" y="4953000"/>
            <a:ext cx="73440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u="sng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Ejercicio:</a:t>
            </a:r>
            <a:r>
              <a:rPr lang="en-US" sz="1800" b="1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lang="en-US" sz="1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Indicar las partes y el grado de la ecuación </a:t>
            </a:r>
            <a:endParaRPr sz="18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2860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3x</a:t>
            </a:r>
            <a:r>
              <a:rPr lang="en-US" sz="1800" b="1" baseline="30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2</a:t>
            </a:r>
            <a:r>
              <a:rPr lang="en-US" sz="1800" b="1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– 5 = 2x + 7</a:t>
            </a:r>
            <a:endParaRPr sz="2100" b="1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7"/>
          <p:cNvSpPr txBox="1">
            <a:spLocks noGrp="1"/>
          </p:cNvSpPr>
          <p:nvPr>
            <p:ph type="title"/>
          </p:nvPr>
        </p:nvSpPr>
        <p:spPr>
          <a:xfrm>
            <a:off x="457200" y="476672"/>
            <a:ext cx="82296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959"/>
              <a:buFont typeface="Century Gothic"/>
              <a:buNone/>
            </a:pPr>
            <a:r>
              <a:rPr lang="en-US" sz="3859"/>
              <a:t>SOLUCIONES DE UNA ECUACIÓN</a:t>
            </a:r>
            <a:endParaRPr sz="2660"/>
          </a:p>
        </p:txBody>
      </p:sp>
      <p:sp>
        <p:nvSpPr>
          <p:cNvPr id="130" name="Google Shape;130;p17"/>
          <p:cNvSpPr txBox="1"/>
          <p:nvPr/>
        </p:nvSpPr>
        <p:spPr>
          <a:xfrm>
            <a:off x="762000" y="4267200"/>
            <a:ext cx="73440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u="sng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Ejercicio:</a:t>
            </a:r>
            <a:r>
              <a:rPr lang="en-US" sz="1900" b="1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lang="en-US" sz="19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¿</a:t>
            </a:r>
            <a:r>
              <a:rPr lang="en-US" sz="1900" b="1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x = 1</a:t>
            </a:r>
            <a:r>
              <a:rPr lang="en-US" sz="19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es solución de la ecuación </a:t>
            </a:r>
            <a:r>
              <a:rPr lang="en-US" sz="1900" b="1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3x</a:t>
            </a:r>
            <a:r>
              <a:rPr lang="en-US" sz="1900" b="1" baseline="30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2</a:t>
            </a:r>
            <a:r>
              <a:rPr lang="en-US" sz="1900" b="1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+ 5 = 2 – 6x</a:t>
            </a:r>
            <a:r>
              <a:rPr lang="en-US" sz="19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?</a:t>
            </a:r>
            <a:r>
              <a:rPr lang="en-US" sz="1900" b="1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lang="en-US" sz="19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¿Y </a:t>
            </a:r>
            <a:r>
              <a:rPr lang="en-US" sz="1900" b="1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x = -1</a:t>
            </a:r>
            <a:r>
              <a:rPr lang="en-US" sz="19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es solución?</a:t>
            </a:r>
            <a:endParaRPr sz="19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31" name="Google Shape;13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2313" y="1543226"/>
            <a:ext cx="7699376" cy="85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/>
        </p:nvSpPr>
        <p:spPr>
          <a:xfrm>
            <a:off x="685800" y="2743200"/>
            <a:ext cx="7735800" cy="10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dirty="0" err="1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Ejemplo</a:t>
            </a:r>
            <a:r>
              <a:rPr lang="en-US" sz="1900" b="1" dirty="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:</a:t>
            </a:r>
            <a:r>
              <a:rPr lang="en-US" sz="1900" dirty="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lang="en-US" sz="1900" b="1" dirty="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x = 6</a:t>
            </a:r>
            <a:r>
              <a:rPr lang="en-US" sz="1900" dirty="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es una </a:t>
            </a:r>
            <a:r>
              <a:rPr lang="en-US" sz="1900" dirty="0" err="1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solución</a:t>
            </a:r>
            <a:r>
              <a:rPr lang="en-US" sz="1900" dirty="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de la </a:t>
            </a:r>
            <a:r>
              <a:rPr lang="en-US" sz="1900" dirty="0" err="1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ecuación</a:t>
            </a:r>
            <a:r>
              <a:rPr lang="en-US" sz="1900" dirty="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lang="en-US" sz="1900" b="1" dirty="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4x – 5 = 3x + 1</a:t>
            </a:r>
            <a:endParaRPr sz="1900" dirty="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dirty="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dirty="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Si </a:t>
            </a:r>
            <a:r>
              <a:rPr lang="en-US" sz="2100" dirty="0" err="1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sustituimos</a:t>
            </a:r>
            <a:r>
              <a:rPr lang="en-US" sz="2100" dirty="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x por 6 se </a:t>
            </a:r>
            <a:r>
              <a:rPr lang="en-US" sz="2100" dirty="0" err="1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tiene</a:t>
            </a:r>
            <a:r>
              <a:rPr lang="en-US" sz="2100" dirty="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: 4 · 6 – 5 = 3 · 6 + 1 ⇒ 19 = 19</a:t>
            </a:r>
            <a:endParaRPr sz="2100" dirty="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8"/>
          <p:cNvSpPr txBox="1">
            <a:spLocks noGrp="1"/>
          </p:cNvSpPr>
          <p:nvPr>
            <p:ph type="title"/>
          </p:nvPr>
        </p:nvSpPr>
        <p:spPr>
          <a:xfrm>
            <a:off x="457200" y="476672"/>
            <a:ext cx="82296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959"/>
              <a:buFont typeface="Century Gothic"/>
              <a:buNone/>
            </a:pPr>
            <a:r>
              <a:rPr lang="en-US" sz="3859"/>
              <a:t>ECUACIONES EQUIVALENTES</a:t>
            </a:r>
            <a:endParaRPr sz="2660"/>
          </a:p>
        </p:txBody>
      </p:sp>
      <p:sp>
        <p:nvSpPr>
          <p:cNvPr id="138" name="Google Shape;138;p18"/>
          <p:cNvSpPr txBox="1"/>
          <p:nvPr/>
        </p:nvSpPr>
        <p:spPr>
          <a:xfrm>
            <a:off x="762000" y="5105400"/>
            <a:ext cx="7344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u="sng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Ejercicio:</a:t>
            </a:r>
            <a:r>
              <a:rPr lang="en-US" sz="1900" b="1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lang="en-US" sz="19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¿Las ecuaciones </a:t>
            </a:r>
            <a:r>
              <a:rPr lang="en-US" sz="1900" b="1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x – 7 = 1 </a:t>
            </a:r>
            <a:r>
              <a:rPr lang="en-US" sz="19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y</a:t>
            </a:r>
            <a:r>
              <a:rPr lang="en-US" sz="1900" b="1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2x - 3 = x + 5 </a:t>
            </a:r>
            <a:r>
              <a:rPr lang="en-US" sz="19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son equivalentes? ¿Por qué?</a:t>
            </a:r>
            <a:endParaRPr sz="1800" b="1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>
            <a:off x="685800" y="2133600"/>
            <a:ext cx="7735800" cy="10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Ejemplo:</a:t>
            </a:r>
            <a:r>
              <a:rPr lang="en-US" sz="19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Las ecuaciones </a:t>
            </a:r>
            <a:r>
              <a:rPr lang="en-US" sz="1900" b="1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3x + 12 = x + 16</a:t>
            </a:r>
            <a:r>
              <a:rPr lang="en-US" sz="19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y </a:t>
            </a:r>
            <a:r>
              <a:rPr lang="en-US" sz="1900" b="1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8 + 3x = 5x + 4</a:t>
            </a:r>
            <a:r>
              <a:rPr lang="en-US" sz="19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son equivalentes.</a:t>
            </a:r>
            <a:endParaRPr sz="19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b="1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40" name="Google Shape;14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2500" y="1381275"/>
            <a:ext cx="7502400" cy="57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7138" y="2981325"/>
            <a:ext cx="6773724" cy="2047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9"/>
          <p:cNvSpPr txBox="1">
            <a:spLocks noGrp="1"/>
          </p:cNvSpPr>
          <p:nvPr>
            <p:ph type="title"/>
          </p:nvPr>
        </p:nvSpPr>
        <p:spPr>
          <a:xfrm>
            <a:off x="457200" y="476672"/>
            <a:ext cx="82296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959"/>
              <a:buFont typeface="Century Gothic"/>
              <a:buNone/>
            </a:pPr>
            <a:r>
              <a:rPr lang="en-US" sz="2660"/>
              <a:t>REGLAS DE TRANSFORMACIÓN DE ECUACIONES</a:t>
            </a:r>
            <a:endParaRPr sz="1460"/>
          </a:p>
        </p:txBody>
      </p:sp>
      <p:sp>
        <p:nvSpPr>
          <p:cNvPr id="147" name="Google Shape;147;p19"/>
          <p:cNvSpPr txBox="1"/>
          <p:nvPr/>
        </p:nvSpPr>
        <p:spPr>
          <a:xfrm>
            <a:off x="685800" y="1295400"/>
            <a:ext cx="7735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Se utilizan para transformar una ecuación en otra equivalente más sencilla.</a:t>
            </a:r>
            <a:endParaRPr sz="1600" b="1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48" name="Google Shape;14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0800" y="1885425"/>
            <a:ext cx="5897125" cy="96047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>
            <a:off x="685800" y="1981200"/>
            <a:ext cx="20859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u="sng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Regla </a:t>
            </a:r>
            <a:endParaRPr sz="1700" b="1" u="sng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u="sng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suma/resta:</a:t>
            </a:r>
            <a:r>
              <a:rPr lang="en-US" sz="1900" u="sng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endParaRPr sz="1300" u="sng"/>
          </a:p>
        </p:txBody>
      </p:sp>
      <p:pic>
        <p:nvPicPr>
          <p:cNvPr id="150" name="Google Shape;15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85438" y="3067055"/>
            <a:ext cx="5897143" cy="57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>
            <a:off x="566750" y="4245200"/>
            <a:ext cx="30000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u="sng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Regla </a:t>
            </a:r>
            <a:endParaRPr sz="1700" b="1" u="sng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u="sng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producto/división:</a:t>
            </a:r>
            <a:r>
              <a:rPr lang="en-US" sz="1700" u="sng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endParaRPr sz="1300"/>
          </a:p>
        </p:txBody>
      </p:sp>
      <p:pic>
        <p:nvPicPr>
          <p:cNvPr id="152" name="Google Shape;15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70325" y="4145125"/>
            <a:ext cx="5751275" cy="960475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9"/>
          <p:cNvSpPr/>
          <p:nvPr/>
        </p:nvSpPr>
        <p:spPr>
          <a:xfrm>
            <a:off x="1585925" y="3143250"/>
            <a:ext cx="1485900" cy="3858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19"/>
          <p:cNvSpPr/>
          <p:nvPr/>
        </p:nvSpPr>
        <p:spPr>
          <a:xfrm>
            <a:off x="6372225" y="3143250"/>
            <a:ext cx="890700" cy="3858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19"/>
          <p:cNvSpPr txBox="1"/>
          <p:nvPr/>
        </p:nvSpPr>
        <p:spPr>
          <a:xfrm>
            <a:off x="3743325" y="3643050"/>
            <a:ext cx="1704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EQUIVALENTES</a:t>
            </a:r>
            <a:endParaRPr sz="1100" b="1"/>
          </a:p>
        </p:txBody>
      </p:sp>
      <p:cxnSp>
        <p:nvCxnSpPr>
          <p:cNvPr id="156" name="Google Shape;156;p19"/>
          <p:cNvCxnSpPr>
            <a:stCxn id="154" idx="2"/>
            <a:endCxn id="155" idx="3"/>
          </p:cNvCxnSpPr>
          <p:nvPr/>
        </p:nvCxnSpPr>
        <p:spPr>
          <a:xfrm flipH="1">
            <a:off x="5448375" y="3529050"/>
            <a:ext cx="1369200" cy="3141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7" name="Google Shape;157;p19"/>
          <p:cNvCxnSpPr>
            <a:stCxn id="153" idx="2"/>
            <a:endCxn id="155" idx="1"/>
          </p:cNvCxnSpPr>
          <p:nvPr/>
        </p:nvCxnSpPr>
        <p:spPr>
          <a:xfrm>
            <a:off x="2328875" y="3529050"/>
            <a:ext cx="1414500" cy="3141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158" name="Google Shape;158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58375" y="5255175"/>
            <a:ext cx="5751275" cy="674192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9"/>
          <p:cNvSpPr/>
          <p:nvPr/>
        </p:nvSpPr>
        <p:spPr>
          <a:xfrm>
            <a:off x="1647825" y="5353050"/>
            <a:ext cx="890700" cy="3858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9"/>
          <p:cNvSpPr/>
          <p:nvPr/>
        </p:nvSpPr>
        <p:spPr>
          <a:xfrm>
            <a:off x="6300775" y="5399375"/>
            <a:ext cx="728700" cy="3858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9"/>
          <p:cNvSpPr txBox="1"/>
          <p:nvPr/>
        </p:nvSpPr>
        <p:spPr>
          <a:xfrm>
            <a:off x="3581563" y="6081700"/>
            <a:ext cx="1704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EQUIVALENTES</a:t>
            </a:r>
            <a:endParaRPr sz="1100" b="1">
              <a:solidFill>
                <a:schemeClr val="dk1"/>
              </a:solidFill>
            </a:endParaRPr>
          </a:p>
        </p:txBody>
      </p:sp>
      <p:cxnSp>
        <p:nvCxnSpPr>
          <p:cNvPr id="162" name="Google Shape;162;p19"/>
          <p:cNvCxnSpPr>
            <a:endCxn id="161" idx="3"/>
          </p:cNvCxnSpPr>
          <p:nvPr/>
        </p:nvCxnSpPr>
        <p:spPr>
          <a:xfrm flipH="1">
            <a:off x="5286463" y="5829400"/>
            <a:ext cx="1385700" cy="45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3" name="Google Shape;163;p19"/>
          <p:cNvCxnSpPr>
            <a:endCxn id="161" idx="1"/>
          </p:cNvCxnSpPr>
          <p:nvPr/>
        </p:nvCxnSpPr>
        <p:spPr>
          <a:xfrm>
            <a:off x="2057263" y="5743600"/>
            <a:ext cx="1524300" cy="5382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0"/>
          <p:cNvSpPr txBox="1">
            <a:spLocks noGrp="1"/>
          </p:cNvSpPr>
          <p:nvPr>
            <p:ph type="title"/>
          </p:nvPr>
        </p:nvSpPr>
        <p:spPr>
          <a:xfrm>
            <a:off x="457200" y="476672"/>
            <a:ext cx="82296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959"/>
              <a:buFont typeface="Century Gothic"/>
              <a:buNone/>
            </a:pPr>
            <a:r>
              <a:rPr lang="en-US" sz="3359"/>
              <a:t>RESOLUCIÓN ECUACIONES GRADO 1</a:t>
            </a:r>
            <a:endParaRPr sz="2160"/>
          </a:p>
        </p:txBody>
      </p:sp>
      <p:sp>
        <p:nvSpPr>
          <p:cNvPr id="169" name="Google Shape;169;p20"/>
          <p:cNvSpPr txBox="1"/>
          <p:nvPr/>
        </p:nvSpPr>
        <p:spPr>
          <a:xfrm>
            <a:off x="685800" y="1371600"/>
            <a:ext cx="7735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Ejemplo:</a:t>
            </a:r>
            <a:r>
              <a:rPr lang="en-US" sz="19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Resuelve la ecuación </a:t>
            </a:r>
            <a:r>
              <a:rPr lang="en-US" sz="2200" b="1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2x +1 – 3x = x + 5x + 8</a:t>
            </a:r>
            <a:endParaRPr sz="1900" b="1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70" name="Google Shape;17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0375" y="2095529"/>
            <a:ext cx="7486650" cy="393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1"/>
          <p:cNvSpPr txBox="1">
            <a:spLocks noGrp="1"/>
          </p:cNvSpPr>
          <p:nvPr>
            <p:ph type="title"/>
          </p:nvPr>
        </p:nvSpPr>
        <p:spPr>
          <a:xfrm>
            <a:off x="457200" y="476672"/>
            <a:ext cx="82296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959"/>
              <a:buFont typeface="Century Gothic"/>
              <a:buNone/>
            </a:pPr>
            <a:r>
              <a:rPr lang="en-US" sz="3060"/>
              <a:t>ECUACIONES GRADO 1 CON PARÉNTESIS</a:t>
            </a:r>
            <a:endParaRPr sz="1860"/>
          </a:p>
        </p:txBody>
      </p:sp>
      <p:sp>
        <p:nvSpPr>
          <p:cNvPr id="176" name="Google Shape;176;p21"/>
          <p:cNvSpPr txBox="1"/>
          <p:nvPr/>
        </p:nvSpPr>
        <p:spPr>
          <a:xfrm>
            <a:off x="685800" y="1371600"/>
            <a:ext cx="7735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Ejemplo:</a:t>
            </a:r>
            <a:r>
              <a:rPr lang="en-US" sz="19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Resuelve la ecuación </a:t>
            </a:r>
            <a:r>
              <a:rPr lang="en-US" sz="2200" b="1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6(x + 2) = 24 – 4x + 2(x + 2)</a:t>
            </a:r>
            <a:endParaRPr sz="1900" b="1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77" name="Google Shape;17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5800" y="2090050"/>
            <a:ext cx="7571800" cy="35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2"/>
          <p:cNvSpPr txBox="1">
            <a:spLocks noGrp="1"/>
          </p:cNvSpPr>
          <p:nvPr>
            <p:ph type="title"/>
          </p:nvPr>
        </p:nvSpPr>
        <p:spPr>
          <a:xfrm>
            <a:off x="457200" y="476672"/>
            <a:ext cx="82296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959"/>
              <a:buFont typeface="Century Gothic"/>
              <a:buNone/>
            </a:pPr>
            <a:r>
              <a:rPr lang="en-US" sz="2660"/>
              <a:t>ECUACIONES GRADO 1 CON DENOMINADORES</a:t>
            </a:r>
            <a:endParaRPr sz="1460"/>
          </a:p>
        </p:txBody>
      </p:sp>
      <p:sp>
        <p:nvSpPr>
          <p:cNvPr id="183" name="Google Shape;183;p22"/>
          <p:cNvSpPr txBox="1"/>
          <p:nvPr/>
        </p:nvSpPr>
        <p:spPr>
          <a:xfrm>
            <a:off x="685800" y="1371600"/>
            <a:ext cx="35433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Ejemplo:</a:t>
            </a:r>
            <a:r>
              <a:rPr lang="en-US" sz="19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Resuelve la ecuación </a:t>
            </a:r>
            <a:endParaRPr sz="1900" b="1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84" name="Google Shape;18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00525" y="1253038"/>
            <a:ext cx="2840926" cy="7141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50150" y="2052875"/>
            <a:ext cx="6843701" cy="391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0" name="Google Shape;190;p23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191" name="Google Shape;191;p2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pic>
          <p:nvPicPr>
            <p:cNvPr id="192" name="Google Shape;192;p23" descr="CRC LOGO 2015.png"/>
            <p:cNvPicPr preferRelativeResize="0"/>
            <p:nvPr/>
          </p:nvPicPr>
          <p:blipFill rotWithShape="1">
            <a:blip r:embed="rId3">
              <a:alphaModFix/>
            </a:blip>
            <a:srcRect b="10707"/>
            <a:stretch/>
          </p:blipFill>
          <p:spPr>
            <a:xfrm>
              <a:off x="2504416" y="980728"/>
              <a:ext cx="4175760" cy="43039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3" name="Google Shape;193;p23"/>
            <p:cNvSpPr txBox="1"/>
            <p:nvPr/>
          </p:nvSpPr>
          <p:spPr>
            <a:xfrm>
              <a:off x="683569" y="5364697"/>
              <a:ext cx="7838192" cy="5539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>
                  <a:solidFill>
                    <a:srgbClr val="9E0926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www.colegiosramonycajal.es</a:t>
              </a:r>
              <a:endParaRPr sz="3000">
                <a:solidFill>
                  <a:srgbClr val="9E0926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690</Words>
  <Application>Microsoft Office PowerPoint</Application>
  <PresentationFormat>Presentación en pantalla (4:3)</PresentationFormat>
  <Paragraphs>92</Paragraphs>
  <Slides>17</Slides>
  <Notes>17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2" baseType="lpstr">
      <vt:lpstr>Comic Sans MS</vt:lpstr>
      <vt:lpstr>Century Gothic</vt:lpstr>
      <vt:lpstr>Arial</vt:lpstr>
      <vt:lpstr>Calibri</vt:lpstr>
      <vt:lpstr>Tema de Office</vt:lpstr>
      <vt:lpstr>Presentación de PowerPoint</vt:lpstr>
      <vt:lpstr>¿Qué es el Álgebra?</vt:lpstr>
      <vt:lpstr>Expresiones algebraicas</vt:lpstr>
      <vt:lpstr>Valor numérico</vt:lpstr>
      <vt:lpstr>MONOMIOS</vt:lpstr>
      <vt:lpstr>MONOMIOS SEMEJANTES</vt:lpstr>
      <vt:lpstr>MONOMIOS: SUMA Y RESTA</vt:lpstr>
      <vt:lpstr>MONOMIOS: PRODUCTO Y DIVISIÓN</vt:lpstr>
      <vt:lpstr>MONOMIOS: Distributiva y sacar factor común</vt:lpstr>
      <vt:lpstr>ECUACIONES</vt:lpstr>
      <vt:lpstr>SOLUCIONES DE UNA ECUACIÓN</vt:lpstr>
      <vt:lpstr>ECUACIONES EQUIVALENTES</vt:lpstr>
      <vt:lpstr>REGLAS DE TRANSFORMACIÓN DE ECUACIONES</vt:lpstr>
      <vt:lpstr>RESOLUCIÓN ECUACIONES GRADO 1</vt:lpstr>
      <vt:lpstr>ECUACIONES GRADO 1 CON PARÉNTESIS</vt:lpstr>
      <vt:lpstr>ECUACIONES GRADO 1 CON DENOMINADORES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cp:lastModifiedBy>Adrián García Gómez</cp:lastModifiedBy>
  <cp:revision>1</cp:revision>
  <dcterms:modified xsi:type="dcterms:W3CDTF">2022-02-20T10:36:25Z</dcterms:modified>
</cp:coreProperties>
</file>